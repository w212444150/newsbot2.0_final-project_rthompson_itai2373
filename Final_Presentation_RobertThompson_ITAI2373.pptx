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32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0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and yourself. NewsBot 2.0 is the final version built on the midterm — four fully integrated modules for crypto and cybersecurity news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information overload. The solution is automation. Explain that this is a real analyst tool, not just a class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 briefly. Each one can run independently. The pipeline runs all four in sequence for a full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ensemble uses Logistic Regression, LinearSVC, and Naive Bayes — majority vote. Confidence flagging below 60% catches borderline cases. LDA is better for overlapping themes; NMF gives cleaner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search demo if possible. Query expansion is the key differentiator — 'ransomware' automatically pulls in encryption, demand, backup to improve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cross-lingual search is the headline feature here. One query in English returns results from all 7 languages. That surfaces French hospital ransomware coverage that would be completely missed in an English-only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Two-stage classification: keyword matching fires first (fast, high confidence on obvious queries). ML classifier handles ambiguous phrasing. Falls back gracefully with a helpful message when neither is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metric. 91.2% accuracy is strong for a 5-class problem on a synthetic dataset. The &lt;5ms inference time means it works in real-time for interactive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The rubric lesson is real and resonates with technical evaluators. The modular design point shows engineering maturity. The 56 hours shows scope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full_pipeline_analysis() live. The key demo moments are steps 3 (confidence score), 5 (topic assignment), and 8 (conversational routing). The cross-lingual search in step 7 always gets the best reaction — one English query finds French and Italian hospital ransomware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00D2FF">
              <a:alpha val="18000"/>
            </a:srgbClr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0" y="-914400"/>
            <a:ext cx="1828800" cy="1828800"/>
          </a:xfrm>
          <a:prstGeom prst="ellipse">
            <a:avLst/>
          </a:prstGeom>
          <a:solidFill>
            <a:srgbClr val="FFB830">
              <a:alpha val="20000"/>
            </a:srgbClr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051560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91640" y="45720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NewsBot 2.0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691640" y="1600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D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NewsBot Intelligence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2011680" cy="402336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  Content Analysis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87752" y="2304288"/>
            <a:ext cx="2011680" cy="402336"/>
          </a:xfrm>
          <a:prstGeom prst="rect">
            <a:avLst/>
          </a:prstGeom>
          <a:solidFill>
            <a:srgbClr val="00D2FF">
              <a:alpha val="85000"/>
            </a:srgbClr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  Language &amp; Summaries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64024" y="2304288"/>
            <a:ext cx="2011680" cy="402336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64024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  Multilingual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40296" y="2304288"/>
            <a:ext cx="2011680" cy="402336"/>
          </a:xfrm>
          <a:prstGeom prst="rect">
            <a:avLst/>
          </a:prstGeom>
          <a:solidFill>
            <a:srgbClr val="FFB830">
              <a:alpha val="85000"/>
            </a:srgbClr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0296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  Conversational 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8321040" cy="150876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182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Thompson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584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9867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986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bthompson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82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3182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584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3584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Anna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9867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3986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10896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6400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NEWSBOT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920240" cy="1920240"/>
          </a:xfrm>
          <a:prstGeom prst="ellipse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Articles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0128" y="256032"/>
            <a:ext cx="5596128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10128" y="256032"/>
            <a:ext cx="201168" cy="1417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3474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7132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and cybersecurity analysts read hundreds of articles a day manually. It's slow, inconsistent, and misses patterns across the full corpus.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828800"/>
            <a:ext cx="5596128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01168" cy="1417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2.0 auto-classifies, summarizes, sentiment-tracks, translates, and answers plain-English questions — replacing hours of reading with seconds.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3401568"/>
            <a:ext cx="5596128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3401568"/>
            <a:ext cx="201168" cy="14173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0" y="34930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DOMAIN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38587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+ Crypto news — 5 categories, 7 languages, 80 articles covering real 2024 events. Same domain as the midterm, much more powerful system.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D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modules. One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" y="1261872"/>
            <a:ext cx="1993392" cy="35204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5256" y="1353312"/>
            <a:ext cx="749808" cy="7498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5256" y="13533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" y="2761488"/>
            <a:ext cx="73152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" y="3255264"/>
            <a:ext cx="73152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+ NMF Topics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" y="3749040"/>
            <a:ext cx="73152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Tracker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4242816"/>
            <a:ext cx="73152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428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Mapper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9736" y="1261872"/>
            <a:ext cx="1993392" cy="3520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72384" y="1353312"/>
            <a:ext cx="749808" cy="749808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72384" y="13533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32888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 &amp;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9464" y="2761488"/>
            <a:ext cx="73152" cy="32918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15768" y="276148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Summarizer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9464" y="3255264"/>
            <a:ext cx="73152" cy="32918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15768" y="32552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9464" y="3749040"/>
            <a:ext cx="73152" cy="32918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15768" y="37490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Enhancer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9464" y="4242816"/>
            <a:ext cx="73152" cy="32918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15768" y="42428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1261872"/>
            <a:ext cx="1993392" cy="3520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39512" y="1353312"/>
            <a:ext cx="749808" cy="7498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39512" y="13533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0016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Multilingual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761488"/>
            <a:ext cx="73152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82896" y="276148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255264"/>
            <a:ext cx="73152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82896" y="32552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(7 langs)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749040"/>
            <a:ext cx="73152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82896" y="37490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Search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4242816"/>
            <a:ext cx="73152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82896" y="42428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Context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93992" y="1261872"/>
            <a:ext cx="1993392" cy="3520440"/>
          </a:xfrm>
          <a:prstGeom prst="rect">
            <a:avLst/>
          </a:prstGeom>
          <a:solidFill>
            <a:srgbClr val="0F3460"/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06640" y="1353312"/>
            <a:ext cx="749808" cy="749808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06640" y="13533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867144" y="22128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761488"/>
            <a:ext cx="73152" cy="32918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50024" y="276148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7-Intent Classifier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3255264"/>
            <a:ext cx="73152" cy="32918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50024" y="32552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749040"/>
            <a:ext cx="73152" cy="32918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50024" y="37490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Manager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4242816"/>
            <a:ext cx="73152" cy="32918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50024" y="42428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2608" y="4773168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In  →  Detect Language  →  Preprocess  →  Analyze  →  Search / Chat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Content Analysis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65960" cy="1188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196596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070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1965960" cy="11887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2070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8288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Found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(LDA+NMF)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196596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2070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Ensemble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42032"/>
            <a:ext cx="4160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4160520" cy="365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542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— Probabilistic Topics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T1: ransomware  attack  hospital  patient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419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T3: bitcoin  etf  blackrock  inflow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T5: sec  regulation  compliance  law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T7: ethereum  layer2  upgrade  protocol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542032"/>
            <a:ext cx="4160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542032"/>
            <a:ext cx="416052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5420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NMF — Matrix Factorization Topics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T1: apt28  lazarus  nation-state  campaign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419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T3: stablecoin  defi  tvl  protocol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T5: mca  mica  license  fine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261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T7: proof  zero-knowledge  audit  bug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 Understanding and Generation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24912" cy="3611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1298448"/>
            <a:ext cx="914400" cy="914400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6152" y="12984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3225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Extractive Summarizer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87121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sentence scoring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33467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Picks top sentences in reading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382219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38% compression ratio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429768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on any article no training needed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170432"/>
            <a:ext cx="2724912" cy="36118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23944" y="1298448"/>
            <a:ext cx="914400" cy="9144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23944" y="12984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9272" y="23225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92424" y="287121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cosine similarity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92424" y="33467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query expansion map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92424" y="382219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synonym sets (hack→breach,exploit...)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92424" y="429768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filter option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5624" y="1170432"/>
            <a:ext cx="2724912" cy="3611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31736" y="1298448"/>
            <a:ext cx="914400" cy="914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31736" y="12984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27064" y="23225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Enhancer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287121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Auto-tagging (8 domain tags)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33467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phrase extraction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0216" y="382219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Templated insight per category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0216" y="429768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Cross-reference fact pulling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626864"/>
            <a:ext cx="850392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626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QUERY: "ransomware hospital patient records"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Multilingual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078992" cy="1078992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170432"/>
            <a:ext cx="1078992" cy="10789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1170432"/>
            <a:ext cx="1078992" cy="107899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0" y="1170432"/>
            <a:ext cx="1078992" cy="10789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57800" y="1170432"/>
            <a:ext cx="1078992" cy="10789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0" y="1170432"/>
            <a:ext cx="1078992" cy="10789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26680" y="1170432"/>
            <a:ext cx="1078992" cy="1078992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26680" y="11887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89520" y="22860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411480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7980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Language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1455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library + rule-based fallback for non-Latin scripts. Works offline.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411480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Translation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611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via deep-translator when online. Handwritten mock translations for offline use.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411480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7980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Cross-Lingual Search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14553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all articles to English first, then run one cosine similarity search across all 7 languages.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858768"/>
            <a:ext cx="411480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39136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Cultural Context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426110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Per-language notes: DE = BaFin + industrial security, FR = ANSSI + EU compliance, IT = healthcare breaches.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777240" cy="8046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ransomware articles"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39696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39696"/>
            <a:ext cx="777240" cy="80467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39696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23225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market mood?"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072384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072384"/>
            <a:ext cx="77724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072384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SUMMARIZE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325526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"brief me on the breach news"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005072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4005072"/>
            <a:ext cx="777240" cy="80467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005072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41879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topics are trending?"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1207008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207008"/>
            <a:ext cx="77724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207008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1389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orgs show up most?"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139696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139696"/>
            <a:ext cx="7772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139696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23225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the French article"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072384"/>
            <a:ext cx="425196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4361E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072384"/>
            <a:ext cx="777240" cy="8046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072384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325526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"LDA versus NMF results"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05472" y="4315968"/>
            <a:ext cx="1572768" cy="64008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05472" y="43159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Intent Accuracy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84048" y="2834640"/>
            <a:ext cx="1188720" cy="1005840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2852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3383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2834640"/>
            <a:ext cx="1188720" cy="1005840"/>
          </a:xfrm>
          <a:prstGeom prst="ellipse">
            <a:avLst/>
          </a:prstGeom>
          <a:solidFill>
            <a:srgbClr val="00D2FF">
              <a:alpha val="80000"/>
            </a:srgbClr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3080" y="2852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3383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3931920"/>
            <a:ext cx="1188720" cy="100584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39502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" y="4480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83080" y="3931920"/>
            <a:ext cx="1188720" cy="1005840"/>
          </a:xfrm>
          <a:prstGeom prst="ellipse">
            <a:avLst/>
          </a:prstGeom>
          <a:solidFill>
            <a:srgbClr val="FFB830">
              <a:alpha val="80000"/>
            </a:srgbClr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83080" y="39502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83080" y="4480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256032"/>
            <a:ext cx="47548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0" y="256032"/>
            <a:ext cx="1417320" cy="8046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34747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310896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23560" y="6583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LR + SVC + NB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1188720"/>
            <a:ext cx="47548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0" y="1188720"/>
            <a:ext cx="141732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1280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0" y="124358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Macro Score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23560" y="1591056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classification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2121408"/>
            <a:ext cx="47548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0" y="2121408"/>
            <a:ext cx="1417320" cy="80467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0" y="221284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23560" y="2176272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Accuracy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23560" y="252374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benchmark queries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3054096"/>
            <a:ext cx="47548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0" y="3054096"/>
            <a:ext cx="14173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0" y="3145536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623560" y="3108960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Compression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23560" y="3456432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summarization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0" y="3986784"/>
            <a:ext cx="47548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14800" y="3986784"/>
            <a:ext cx="141732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0" y="407822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 ms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623560" y="404164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Classification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23560" y="4389120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article at inference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I'd do differently. What I got right.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4813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Read the Rubric 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building before mapping every requirement. Had to go back and add entity mapping and cross-lingual features I'd skipped.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2670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Modular Design Pays 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30175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classes made debugging fast. Testing the sentiment tracker alone saved hours of pipeline debugging.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76732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" y="38587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Docs Improve the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" y="42062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API reference caught three inconsistent method signatures. The documentation process made the code better, not just readable.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38988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14813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Fallbacks Are Real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2896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fallbacks felt like extra work. Turned out essential — notebook runs anywhere without errors, which matters for grading.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57860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2896" y="2670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Accuracy Isn't Everything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30175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was easy to measure. Topic coherence and conversation fluency were harder but more useful for real analysts.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767328"/>
            <a:ext cx="425196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82896" y="38587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~56 Hours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2896" y="42062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14hrs, B: 10hrs, C: 9hrs, D: 10hrs, Dataset: 6hrs, Docs: 7hrs. Pacing evenly across the semester would've helped.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00D2FF">
              <a:alpha val="12000"/>
            </a:srgbClr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FB830">
              <a:alpha val="15000"/>
            </a:srgbClr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D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8-step full pipeline walkthrough — see everything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3192" y="1801368"/>
            <a:ext cx="475488" cy="47548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4650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0208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— no translation needed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" y="2606040"/>
            <a:ext cx="475488" cy="475488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55117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8254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→ Lemmatize → TF-IDF vector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3192" y="3410712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6301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94% confidence 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105656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" y="4215384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1605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43484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(−0.31)  |  bearish signal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28032" y="1801368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174650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20208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Topic_1 (ransomware/attack)  0.68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96312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28032" y="2606040"/>
            <a:ext cx="475488" cy="475488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255117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28254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2-sentence digest at 35% compression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300984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410712"/>
            <a:ext cx="475488" cy="47548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3558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+ Tags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36301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BlackCat, FBI, Bitcoin  |  ransomware, data-breach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105656"/>
            <a:ext cx="4251960" cy="676656"/>
          </a:xfrm>
          <a:prstGeom prst="rect">
            <a:avLst/>
          </a:prstGeom>
          <a:solidFill>
            <a:srgbClr val="0F3460"/>
          </a:solidFill>
          <a:ln w="12700">
            <a:solidFill>
              <a:srgbClr val="00D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28032" y="4215384"/>
            <a:ext cx="475488" cy="475488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28032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41605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Query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443484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ransomware articles" → SEARCH (90%)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0" y="4727448"/>
            <a:ext cx="4572000" cy="329184"/>
          </a:xfrm>
          <a:prstGeom prst="rect">
            <a:avLst/>
          </a:prstGeom>
          <a:solidFill>
            <a:srgbClr val="FFB830">
              <a:alpha val="80000"/>
            </a:srgbClr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86000" y="47274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·  Group: Thompson  ·  User: bthompson  ·  ITAI 2373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1223</Words>
  <Application>Microsoft Office PowerPoint</Application>
  <PresentationFormat>On-screen Show (16:9)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2.0 - ITAI 2373</dc:title>
  <dc:subject>PptxGenJS Presentation</dc:subject>
  <dc:creator>B. Thompson</dc:creator>
  <cp:lastModifiedBy>Brandon Thompson</cp:lastModifiedBy>
  <cp:revision>2</cp:revision>
  <dcterms:created xsi:type="dcterms:W3CDTF">2026-05-07T04:45:59Z</dcterms:created>
  <dcterms:modified xsi:type="dcterms:W3CDTF">2026-05-07T04:55:09Z</dcterms:modified>
</cp:coreProperties>
</file>